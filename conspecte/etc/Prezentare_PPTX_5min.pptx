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Incep de la problema principala: ca sa antrenam sau sa evaluam modele de Computer Vision, avem nevoie de date etichetate bine. Dar adnotarea este consumatoare de timp, mai ales cand obiectele au contururi complexe. In plus, daca mai multi oameni lucreaza pe acelasi set de imagini, apar probleme de sincronizare si consistenta. De aici vine ideea proiectului: un tool care combina adnotarea manuala, asistenta AI si colaborarea intr-un singur flux.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puncte de comparatie, am pornit de la tool-uri cunoscute. CVAT este foarte puternic pentru proiecte de adnotare si colaborare. LabelMe este mai clasic, dar ramane un reper pentru adnotarea online. Pe partea de modele, Mask2Former este relevant pentru segmentare, iar YOLOE este interesant pentru detectii flexibile, inclusiv pe clase descrise mai liber. Proiectul meu nu incearca sa inlocuiasca aceste directii, ci sa combine cateva idei utile intr-un tool desktop controlat de utilizator.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Obiectivul principal a fost sa construiesc o aplicatie completa pentru adnotare vizuala. Primul obiectiv a fost partea manuala: utilizatorul trebuie sa poata desena si corecta adnotari. Al doilea obiectiv a fost asistenta AI, dar intr-un mod human-in-the-loop: AI-ul propune, utilizatorul valideaza. Al treilea obiectiv a fost colaborarea, iar ultimul a fost exportul intr-o forma utila pentru pipeline-uri de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Solutia propusa este PyVisionAnnotator, o aplicatie desktop construita in jurul unui canvas de adnotare. Utilizatorul poate lucra manual cu bounding box-uri, poligoane si masti, iar apoi poate folosi AI-ul ca accelerare. Important de mentionat: YOLOE nu este tratat ca generator direct de masti editabile — el este folosit pentru detectii si contururi care devin poligoane. Pentru masti editabile, fluxul AutoMask foloseste Mask2Former pornind de la un punct selectat de utilizator.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Arhitectura este impartita in trei zone. Prima este aplicatia desktop, facuta in Python si PyQt, unde utilizatorul interactioneaza efectiv cu imaginile. A doua zona este AI-ul local: procesele externe ruleaza separat, astfel incat interfata sa ramana responsiva. A treia zona este backend-ul colaborativ, bazat pe servicii Spring Boot. El gestioneaza autentificarea, chatul si sincronizarea adnotarilor prin WebSocket si STOMP.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Evaluarea a combinat mai multe tipuri de verificare. Pentru client, multe lucruri tin de interactiuni vizuale, deci am folosit scenarii manuale: desenare, selectie, editare, setari si export. Pentru backend, validarea este mai tehnica: exista teste JUnit pentru servicii, scenarii de integrare si verificari prin Postman pentru endpoint-uri. Am urmarit ca autentificarea, chatul, sincronizarea si exportul sa functioneze coerent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concluzie, proiectul trateaza o problema practica din pregatirea dataset-urilor vizuale. Contributia principala este integrarea intr-un singur tool a adnotarii manuale, asistentei AI si colaborarii. AI-ul nu inlocuieste utilizatorul, ci reduce timpul pentru pasii repetitivi. Pe viitor, aplicatia poate fi extinsa cu modele noi, persistenta mai avansata pentru proiecte si evaluari comparative mai detaliate.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Text 0"/>
          <p:cNvSpPr/>
          <p:nvPr/>
        </p:nvSpPr>
        <p:spPr>
          <a:xfrm>
            <a:off x="548640" y="548640"/>
            <a:ext cx="8046720" cy="1554480"/>
          </a:xfrm>
          <a:prstGeom prst="rect">
            <a:avLst/>
          </a:prstGeom>
          <a:noFill/>
          <a:ln/>
        </p:spPr>
        <p:txBody>
          <a:bodyPr wrap="square" rtlCol="0" anchor="b"/>
          <a:lstStyle/>
          <a:p>
            <a:pPr algn="l" indent="0" marL="0">
              <a:buNone/>
            </a:pPr>
            <a:r>
              <a:rPr lang="en-US" sz="3600" b="1" dirty="0">
                <a:solidFill>
                  <a:srgbClr val="FFFFFF"/>
                </a:solidFill>
                <a:latin typeface="Cambria" pitchFamily="34" charset="0"/>
                <a:ea typeface="Cambria" pitchFamily="34" charset="-122"/>
                <a:cs typeface="Cambria" pitchFamily="34" charset="-120"/>
              </a:rPr>
              <a:t>Tool Colaborativ</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Semi-Automat de Adnotare</a:t>
            </a:r>
            <a:endParaRPr lang="en-US" sz="3600" dirty="0"/>
          </a:p>
        </p:txBody>
      </p:sp>
      <p:sp>
        <p:nvSpPr>
          <p:cNvPr id="3" name="Text 1"/>
          <p:cNvSpPr/>
          <p:nvPr/>
        </p:nvSpPr>
        <p:spPr>
          <a:xfrm>
            <a:off x="548640" y="2212848"/>
            <a:ext cx="8046720" cy="320040"/>
          </a:xfrm>
          <a:prstGeom prst="rect">
            <a:avLst/>
          </a:prstGeom>
          <a:noFill/>
          <a:ln/>
        </p:spPr>
        <p:txBody>
          <a:bodyPr wrap="square" rtlCol="0" anchor="ctr"/>
          <a:lstStyle/>
          <a:p>
            <a:pPr algn="l" indent="0" marL="0">
              <a:buNone/>
            </a:pPr>
            <a:r>
              <a:rPr lang="en-US" sz="1300" dirty="0">
                <a:solidFill>
                  <a:srgbClr val="93C5FD"/>
                </a:solidFill>
                <a:latin typeface="Calibri" pitchFamily="34" charset="0"/>
                <a:ea typeface="Calibri" pitchFamily="34" charset="-122"/>
                <a:cs typeface="Calibri" pitchFamily="34" charset="-120"/>
              </a:rPr>
              <a:t>Grigoras Victor-Andrei  ·  PyVisionAnnotator</a:t>
            </a:r>
            <a:endParaRPr lang="en-US" sz="1300" dirty="0"/>
          </a:p>
        </p:txBody>
      </p:sp>
      <p:sp>
        <p:nvSpPr>
          <p:cNvPr id="4" name="Text 2"/>
          <p:cNvSpPr/>
          <p:nvPr/>
        </p:nvSpPr>
        <p:spPr>
          <a:xfrm>
            <a:off x="548640" y="2651760"/>
            <a:ext cx="7863840" cy="2103120"/>
          </a:xfrm>
          <a:prstGeom prst="rect">
            <a:avLst/>
          </a:prstGeom>
          <a:noFill/>
          <a:ln/>
        </p:spPr>
        <p:txBody>
          <a:bodyPr wrap="square" rtlCol="0" anchor="ctr"/>
          <a:lstStyle/>
          <a:p>
            <a:pPr marL="342900" indent="-342900">
              <a:spcAft>
                <a:spcPts val="1000"/>
              </a:spcAft>
              <a:buSzPct val="100000"/>
              <a:buChar char="•"/>
            </a:pPr>
            <a:r>
              <a:rPr lang="en-US" sz="1500" dirty="0">
                <a:solidFill>
                  <a:srgbClr val="CBD5E1"/>
                </a:solidFill>
                <a:latin typeface="Calibri" pitchFamily="34" charset="0"/>
                <a:ea typeface="Calibri" pitchFamily="34" charset="-122"/>
                <a:cs typeface="Calibri" pitchFamily="34" charset="-120"/>
              </a:rPr>
              <a:t>Adnotarea imaginilor este lenta, repetitiva si sensibila la erori intre adnotatori.</a:t>
            </a:r>
            <a:endParaRPr lang="en-US" sz="1500" dirty="0"/>
          </a:p>
          <a:p>
            <a:pPr marL="342900" indent="-342900">
              <a:spcAft>
                <a:spcPts val="1000"/>
              </a:spcAft>
              <a:buSzPct val="100000"/>
              <a:buChar char="•"/>
            </a:pPr>
            <a:r>
              <a:rPr lang="en-US" sz="1500" dirty="0">
                <a:solidFill>
                  <a:srgbClr val="CBD5E1"/>
                </a:solidFill>
                <a:latin typeface="Calibri" pitchFamily="34" charset="0"/>
                <a:ea typeface="Calibri" pitchFamily="34" charset="-122"/>
                <a:cs typeface="Calibri" pitchFamily="34" charset="-120"/>
              </a:rPr>
              <a:t>In practica, adnotarea manuala, asistenta AI si colaborarea sunt fluxuri separate.</a:t>
            </a:r>
            <a:endParaRPr lang="en-US" sz="1500" dirty="0"/>
          </a:p>
          <a:p>
            <a:pPr marL="342900" indent="-342900">
              <a:spcAft>
                <a:spcPts val="1000"/>
              </a:spcAft>
              <a:buSzPct val="100000"/>
              <a:buChar char="•"/>
            </a:pPr>
            <a:r>
              <a:rPr lang="en-US" sz="1500" dirty="0">
                <a:solidFill>
                  <a:srgbClr val="CBD5E1"/>
                </a:solidFill>
                <a:latin typeface="Calibri" pitchFamily="34" charset="0"/>
                <a:ea typeface="Calibri" pitchFamily="34" charset="-122"/>
                <a:cs typeface="Calibri" pitchFamily="34" charset="-120"/>
              </a:rPr>
              <a:t>Scopul proiectului: un singur flux integrat — manual, AI si colaborare.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algn="l" indent="0" marL="0">
              <a:buNone/>
            </a:pPr>
            <a:r>
              <a:rPr lang="en-US" sz="2800" b="1" dirty="0">
                <a:solidFill>
                  <a:srgbClr val="1A3A5C"/>
                </a:solidFill>
                <a:latin typeface="Cambria" pitchFamily="34" charset="0"/>
                <a:ea typeface="Cambria" pitchFamily="34" charset="-122"/>
                <a:cs typeface="Cambria" pitchFamily="34" charset="-120"/>
              </a:rPr>
              <a:t>Studiu bibliografic</a:t>
            </a:r>
            <a:endParaRPr lang="en-US" sz="2800" dirty="0"/>
          </a:p>
        </p:txBody>
      </p:sp>
      <p:sp>
        <p:nvSpPr>
          <p:cNvPr id="3" name="Shape 1"/>
          <p:cNvSpPr/>
          <p:nvPr/>
        </p:nvSpPr>
        <p:spPr>
          <a:xfrm>
            <a:off x="457200" y="1097280"/>
            <a:ext cx="3840480" cy="1371600"/>
          </a:xfrm>
          <a:prstGeom prst="roundRect">
            <a:avLst>
              <a:gd name="adj" fmla="val 5333"/>
            </a:avLst>
          </a:prstGeom>
          <a:solidFill>
            <a:srgbClr val="EFF6FF"/>
          </a:solidFill>
          <a:ln w="12700">
            <a:solidFill>
              <a:srgbClr val="DBEAFE"/>
            </a:solidFill>
            <a:prstDash val="solid"/>
          </a:ln>
          <a:effectLst>
            <a:outerShdw sx="100000" sy="100000" kx="0" ky="0" algn="bl" rotWithShape="0" blurRad="101600" dist="25400" dir="2700000">
              <a:srgbClr val="000000">
                <a:alpha val="8000"/>
              </a:srgbClr>
            </a:outerShdw>
          </a:effectLst>
        </p:spPr>
      </p:sp>
      <p:sp>
        <p:nvSpPr>
          <p:cNvPr id="4" name="Text 2"/>
          <p:cNvSpPr/>
          <p:nvPr/>
        </p:nvSpPr>
        <p:spPr>
          <a:xfrm>
            <a:off x="640080" y="1243584"/>
            <a:ext cx="3474720" cy="320040"/>
          </a:xfrm>
          <a:prstGeom prst="rect">
            <a:avLst/>
          </a:prstGeom>
          <a:noFill/>
          <a:ln/>
        </p:spPr>
        <p:txBody>
          <a:bodyPr wrap="square" lIns="0" tIns="0" rIns="0" bIns="0" rtlCol="0" anchor="ctr"/>
          <a:lstStyle/>
          <a:p>
            <a:pPr indent="0" marL="0">
              <a:buNone/>
            </a:pPr>
            <a:r>
              <a:rPr lang="en-US" sz="1400" b="1" dirty="0">
                <a:solidFill>
                  <a:srgbClr val="1A3A5C"/>
                </a:solidFill>
                <a:latin typeface="Cambria" pitchFamily="34" charset="0"/>
                <a:ea typeface="Cambria" pitchFamily="34" charset="-122"/>
                <a:cs typeface="Cambria" pitchFamily="34" charset="-120"/>
              </a:rPr>
              <a:t>CVAT</a:t>
            </a:r>
            <a:endParaRPr lang="en-US" sz="1400" dirty="0"/>
          </a:p>
        </p:txBody>
      </p:sp>
      <p:sp>
        <p:nvSpPr>
          <p:cNvPr id="5" name="Text 3"/>
          <p:cNvSpPr/>
          <p:nvPr/>
        </p:nvSpPr>
        <p:spPr>
          <a:xfrm>
            <a:off x="640080" y="1591056"/>
            <a:ext cx="3474720"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Reper modern pentru adnotare colaborativa, formate multiple si export dataset.</a:t>
            </a:r>
            <a:endParaRPr lang="en-US" sz="1250" dirty="0"/>
          </a:p>
        </p:txBody>
      </p:sp>
      <p:sp>
        <p:nvSpPr>
          <p:cNvPr id="6" name="Shape 4"/>
          <p:cNvSpPr/>
          <p:nvPr/>
        </p:nvSpPr>
        <p:spPr>
          <a:xfrm>
            <a:off x="4754880" y="1097280"/>
            <a:ext cx="3840480" cy="1371600"/>
          </a:xfrm>
          <a:prstGeom prst="roundRect">
            <a:avLst>
              <a:gd name="adj" fmla="val 5333"/>
            </a:avLst>
          </a:prstGeom>
          <a:solidFill>
            <a:srgbClr val="EFF6FF"/>
          </a:solidFill>
          <a:ln w="12700">
            <a:solidFill>
              <a:srgbClr val="DBEAFE"/>
            </a:solidFill>
            <a:prstDash val="solid"/>
          </a:ln>
          <a:effectLst>
            <a:outerShdw sx="100000" sy="100000" kx="0" ky="0" algn="bl" rotWithShape="0" blurRad="101600" dist="25400" dir="2700000">
              <a:srgbClr val="000000">
                <a:alpha val="8000"/>
              </a:srgbClr>
            </a:outerShdw>
          </a:effectLst>
        </p:spPr>
      </p:sp>
      <p:sp>
        <p:nvSpPr>
          <p:cNvPr id="7" name="Text 5"/>
          <p:cNvSpPr/>
          <p:nvPr/>
        </p:nvSpPr>
        <p:spPr>
          <a:xfrm>
            <a:off x="4937760" y="1243584"/>
            <a:ext cx="3474720" cy="320040"/>
          </a:xfrm>
          <a:prstGeom prst="rect">
            <a:avLst/>
          </a:prstGeom>
          <a:noFill/>
          <a:ln/>
        </p:spPr>
        <p:txBody>
          <a:bodyPr wrap="square" lIns="0" tIns="0" rIns="0" bIns="0" rtlCol="0" anchor="ctr"/>
          <a:lstStyle/>
          <a:p>
            <a:pPr indent="0" marL="0">
              <a:buNone/>
            </a:pPr>
            <a:r>
              <a:rPr lang="en-US" sz="1400" b="1" dirty="0">
                <a:solidFill>
                  <a:srgbClr val="1A3A5C"/>
                </a:solidFill>
                <a:latin typeface="Cambria" pitchFamily="34" charset="0"/>
                <a:ea typeface="Cambria" pitchFamily="34" charset="-122"/>
                <a:cs typeface="Cambria" pitchFamily="34" charset="-120"/>
              </a:rPr>
              <a:t>LabelMe</a:t>
            </a:r>
            <a:endParaRPr lang="en-US" sz="1400" dirty="0"/>
          </a:p>
        </p:txBody>
      </p:sp>
      <p:sp>
        <p:nvSpPr>
          <p:cNvPr id="8" name="Text 6"/>
          <p:cNvSpPr/>
          <p:nvPr/>
        </p:nvSpPr>
        <p:spPr>
          <a:xfrm>
            <a:off x="4937760" y="1591056"/>
            <a:ext cx="3474720"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Reper clasic pentru adnotare online cu contururi si poligoane.</a:t>
            </a:r>
            <a:endParaRPr lang="en-US" sz="1250" dirty="0"/>
          </a:p>
        </p:txBody>
      </p:sp>
      <p:sp>
        <p:nvSpPr>
          <p:cNvPr id="9" name="Shape 7"/>
          <p:cNvSpPr/>
          <p:nvPr/>
        </p:nvSpPr>
        <p:spPr>
          <a:xfrm>
            <a:off x="457200" y="2651760"/>
            <a:ext cx="3840480" cy="1371600"/>
          </a:xfrm>
          <a:prstGeom prst="roundRect">
            <a:avLst>
              <a:gd name="adj" fmla="val 5333"/>
            </a:avLst>
          </a:prstGeom>
          <a:solidFill>
            <a:srgbClr val="EFF6FF"/>
          </a:solidFill>
          <a:ln w="12700">
            <a:solidFill>
              <a:srgbClr val="DBEAFE"/>
            </a:solidFill>
            <a:prstDash val="solid"/>
          </a:ln>
          <a:effectLst>
            <a:outerShdw sx="100000" sy="100000" kx="0" ky="0" algn="bl" rotWithShape="0" blurRad="101600" dist="25400" dir="2700000">
              <a:srgbClr val="000000">
                <a:alpha val="8000"/>
              </a:srgbClr>
            </a:outerShdw>
          </a:effectLst>
        </p:spPr>
      </p:sp>
      <p:sp>
        <p:nvSpPr>
          <p:cNvPr id="10" name="Text 8"/>
          <p:cNvSpPr/>
          <p:nvPr/>
        </p:nvSpPr>
        <p:spPr>
          <a:xfrm>
            <a:off x="640080" y="2798064"/>
            <a:ext cx="3474720" cy="320040"/>
          </a:xfrm>
          <a:prstGeom prst="rect">
            <a:avLst/>
          </a:prstGeom>
          <a:noFill/>
          <a:ln/>
        </p:spPr>
        <p:txBody>
          <a:bodyPr wrap="square" lIns="0" tIns="0" rIns="0" bIns="0" rtlCol="0" anchor="ctr"/>
          <a:lstStyle/>
          <a:p>
            <a:pPr indent="0" marL="0">
              <a:buNone/>
            </a:pPr>
            <a:r>
              <a:rPr lang="en-US" sz="1400" b="1" dirty="0">
                <a:solidFill>
                  <a:srgbClr val="1A3A5C"/>
                </a:solidFill>
                <a:latin typeface="Cambria" pitchFamily="34" charset="0"/>
                <a:ea typeface="Cambria" pitchFamily="34" charset="-122"/>
                <a:cs typeface="Cambria" pitchFamily="34" charset="-120"/>
              </a:rPr>
              <a:t>Mask2Former</a:t>
            </a:r>
            <a:endParaRPr lang="en-US" sz="1400" dirty="0"/>
          </a:p>
        </p:txBody>
      </p:sp>
      <p:sp>
        <p:nvSpPr>
          <p:cNvPr id="11" name="Text 9"/>
          <p:cNvSpPr/>
          <p:nvPr/>
        </p:nvSpPr>
        <p:spPr>
          <a:xfrm>
            <a:off x="640080" y="3145536"/>
            <a:ext cx="3474720"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Model pentru segmentare universala — baza pentru fluxul AutoMask.</a:t>
            </a:r>
            <a:endParaRPr lang="en-US" sz="1250" dirty="0"/>
          </a:p>
        </p:txBody>
      </p:sp>
      <p:sp>
        <p:nvSpPr>
          <p:cNvPr id="12" name="Shape 10"/>
          <p:cNvSpPr/>
          <p:nvPr/>
        </p:nvSpPr>
        <p:spPr>
          <a:xfrm>
            <a:off x="4754880" y="2651760"/>
            <a:ext cx="3840480" cy="1371600"/>
          </a:xfrm>
          <a:prstGeom prst="roundRect">
            <a:avLst>
              <a:gd name="adj" fmla="val 5333"/>
            </a:avLst>
          </a:prstGeom>
          <a:solidFill>
            <a:srgbClr val="EFF6FF"/>
          </a:solidFill>
          <a:ln w="12700">
            <a:solidFill>
              <a:srgbClr val="DBEAFE"/>
            </a:solidFill>
            <a:prstDash val="solid"/>
          </a:ln>
          <a:effectLst>
            <a:outerShdw sx="100000" sy="100000" kx="0" ky="0" algn="bl" rotWithShape="0" blurRad="101600" dist="25400" dir="2700000">
              <a:srgbClr val="000000">
                <a:alpha val="8000"/>
              </a:srgbClr>
            </a:outerShdw>
          </a:effectLst>
        </p:spPr>
      </p:sp>
      <p:sp>
        <p:nvSpPr>
          <p:cNvPr id="13" name="Text 11"/>
          <p:cNvSpPr/>
          <p:nvPr/>
        </p:nvSpPr>
        <p:spPr>
          <a:xfrm>
            <a:off x="4937760" y="2798064"/>
            <a:ext cx="3474720" cy="320040"/>
          </a:xfrm>
          <a:prstGeom prst="rect">
            <a:avLst/>
          </a:prstGeom>
          <a:noFill/>
          <a:ln/>
        </p:spPr>
        <p:txBody>
          <a:bodyPr wrap="square" lIns="0" tIns="0" rIns="0" bIns="0" rtlCol="0" anchor="ctr"/>
          <a:lstStyle/>
          <a:p>
            <a:pPr indent="0" marL="0">
              <a:buNone/>
            </a:pPr>
            <a:r>
              <a:rPr lang="en-US" sz="1400" b="1" dirty="0">
                <a:solidFill>
                  <a:srgbClr val="1A3A5C"/>
                </a:solidFill>
                <a:latin typeface="Cambria" pitchFamily="34" charset="0"/>
                <a:ea typeface="Cambria" pitchFamily="34" charset="-122"/>
                <a:cs typeface="Cambria" pitchFamily="34" charset="-120"/>
              </a:rPr>
              <a:t>YOLOE</a:t>
            </a:r>
            <a:endParaRPr lang="en-US" sz="1400" dirty="0"/>
          </a:p>
        </p:txBody>
      </p:sp>
      <p:sp>
        <p:nvSpPr>
          <p:cNvPr id="14" name="Text 12"/>
          <p:cNvSpPr/>
          <p:nvPr/>
        </p:nvSpPr>
        <p:spPr>
          <a:xfrm>
            <a:off x="4937760" y="3145536"/>
            <a:ext cx="3474720"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Detectie open-vocabulary — folosit in AutoSeg pentru detectii si contururi ca poligoane.</a:t>
            </a:r>
            <a:endParaRPr lang="en-US" sz="1250" dirty="0"/>
          </a:p>
        </p:txBody>
      </p:sp>
      <p:sp>
        <p:nvSpPr>
          <p:cNvPr id="15" name="Text 13"/>
          <p:cNvSpPr/>
          <p:nvPr/>
        </p:nvSpPr>
        <p:spPr>
          <a:xfrm>
            <a:off x="457200" y="4315968"/>
            <a:ext cx="8229600" cy="411480"/>
          </a:xfrm>
          <a:prstGeom prst="rect">
            <a:avLst/>
          </a:prstGeom>
          <a:noFill/>
          <a:ln/>
        </p:spPr>
        <p:txBody>
          <a:bodyPr wrap="square" rtlCol="0" anchor="ctr"/>
          <a:lstStyle/>
          <a:p>
            <a:pPr algn="l" indent="0" marL="0">
              <a:buNone/>
            </a:pPr>
            <a:r>
              <a:rPr lang="en-US" sz="1150" i="1" dirty="0">
                <a:solidFill>
                  <a:srgbClr val="64748B"/>
                </a:solidFill>
                <a:latin typeface="Calibri" pitchFamily="34" charset="0"/>
                <a:ea typeface="Calibri" pitchFamily="34" charset="-122"/>
                <a:cs typeface="Calibri" pitchFamily="34" charset="-120"/>
              </a:rPr>
              <a:t>Proiectul pastreaza controlul uman si combina aceste idei intr-o solutie desktop adaptata.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algn="l" indent="0" marL="0">
              <a:buNone/>
            </a:pPr>
            <a:r>
              <a:rPr lang="en-US" sz="2800" b="1" dirty="0">
                <a:solidFill>
                  <a:srgbClr val="1A3A5C"/>
                </a:solidFill>
                <a:latin typeface="Cambria" pitchFamily="34" charset="0"/>
                <a:ea typeface="Cambria" pitchFamily="34" charset="-122"/>
                <a:cs typeface="Cambria" pitchFamily="34" charset="-120"/>
              </a:rPr>
              <a:t>Obiective</a:t>
            </a:r>
            <a:endParaRPr lang="en-US" sz="2800" dirty="0"/>
          </a:p>
        </p:txBody>
      </p:sp>
      <p:sp>
        <p:nvSpPr>
          <p:cNvPr id="3" name="Shape 1"/>
          <p:cNvSpPr/>
          <p:nvPr/>
        </p:nvSpPr>
        <p:spPr>
          <a:xfrm>
            <a:off x="457200" y="1051560"/>
            <a:ext cx="3840480" cy="1371600"/>
          </a:xfrm>
          <a:prstGeom prst="roundRect">
            <a:avLst>
              <a:gd name="adj" fmla="val 5333"/>
            </a:avLst>
          </a:prstGeom>
          <a:solidFill>
            <a:srgbClr val="F1F5F9"/>
          </a:solidFill>
          <a:ln w="12700">
            <a:solidFill>
              <a:srgbClr val="E2E8F0"/>
            </a:solidFill>
            <a:prstDash val="solid"/>
          </a:ln>
          <a:effectLst>
            <a:outerShdw sx="100000" sy="100000" kx="0" ky="0" algn="bl" rotWithShape="0" blurRad="101600" dist="25400" dir="2700000">
              <a:srgbClr val="000000">
                <a:alpha val="8000"/>
              </a:srgbClr>
            </a:outerShdw>
          </a:effectLst>
        </p:spPr>
      </p:sp>
      <p:sp>
        <p:nvSpPr>
          <p:cNvPr id="4" name="Text 2"/>
          <p:cNvSpPr/>
          <p:nvPr/>
        </p:nvSpPr>
        <p:spPr>
          <a:xfrm>
            <a:off x="621792" y="1161288"/>
            <a:ext cx="502920" cy="329184"/>
          </a:xfrm>
          <a:prstGeom prst="rect">
            <a:avLst/>
          </a:prstGeom>
          <a:noFill/>
          <a:ln/>
        </p:spPr>
        <p:txBody>
          <a:bodyPr wrap="square" lIns="0" tIns="0" rIns="0" bIns="0" rtlCol="0" anchor="ctr"/>
          <a:lstStyle/>
          <a:p>
            <a:pPr indent="0" marL="0">
              <a:buNone/>
            </a:pPr>
            <a:r>
              <a:rPr lang="en-US" sz="1700" b="1" dirty="0">
                <a:solidFill>
                  <a:srgbClr val="2563EB"/>
                </a:solidFill>
                <a:latin typeface="Calibri" pitchFamily="34" charset="0"/>
                <a:ea typeface="Calibri" pitchFamily="34" charset="-122"/>
                <a:cs typeface="Calibri" pitchFamily="34" charset="-120"/>
              </a:rPr>
              <a:t>01</a:t>
            </a:r>
            <a:endParaRPr lang="en-US" sz="1700" dirty="0"/>
          </a:p>
        </p:txBody>
      </p:sp>
      <p:sp>
        <p:nvSpPr>
          <p:cNvPr id="5" name="Text 3"/>
          <p:cNvSpPr/>
          <p:nvPr/>
        </p:nvSpPr>
        <p:spPr>
          <a:xfrm>
            <a:off x="1152144" y="1161288"/>
            <a:ext cx="2999232" cy="329184"/>
          </a:xfrm>
          <a:prstGeom prst="rect">
            <a:avLst/>
          </a:prstGeom>
          <a:noFill/>
          <a:ln/>
        </p:spPr>
        <p:txBody>
          <a:bodyPr wrap="square" lIns="0" tIns="0" rIns="0" bIns="0" rtlCol="0" anchor="ctr"/>
          <a:lstStyle/>
          <a:p>
            <a:pPr indent="0" marL="0">
              <a:buNone/>
            </a:pPr>
            <a:r>
              <a:rPr lang="en-US" sz="1350" b="1" dirty="0">
                <a:solidFill>
                  <a:srgbClr val="1A3A5C"/>
                </a:solidFill>
                <a:latin typeface="Cambria" pitchFamily="34" charset="0"/>
                <a:ea typeface="Cambria" pitchFamily="34" charset="-122"/>
                <a:cs typeface="Cambria" pitchFamily="34" charset="-120"/>
              </a:rPr>
              <a:t>Adnotare manuala</a:t>
            </a:r>
            <a:endParaRPr lang="en-US" sz="1350" dirty="0"/>
          </a:p>
        </p:txBody>
      </p:sp>
      <p:sp>
        <p:nvSpPr>
          <p:cNvPr id="6" name="Text 4"/>
          <p:cNvSpPr/>
          <p:nvPr/>
        </p:nvSpPr>
        <p:spPr>
          <a:xfrm>
            <a:off x="621792" y="1563624"/>
            <a:ext cx="3511296" cy="7315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Bounding box-uri, poligoane si masti — desenate si editate direct pe canvas.</a:t>
            </a:r>
            <a:endParaRPr lang="en-US" sz="1250" dirty="0"/>
          </a:p>
        </p:txBody>
      </p:sp>
      <p:sp>
        <p:nvSpPr>
          <p:cNvPr id="7" name="Shape 5"/>
          <p:cNvSpPr/>
          <p:nvPr/>
        </p:nvSpPr>
        <p:spPr>
          <a:xfrm>
            <a:off x="4754880" y="1051560"/>
            <a:ext cx="3840480" cy="1371600"/>
          </a:xfrm>
          <a:prstGeom prst="roundRect">
            <a:avLst>
              <a:gd name="adj" fmla="val 5333"/>
            </a:avLst>
          </a:prstGeom>
          <a:solidFill>
            <a:srgbClr val="F1F5F9"/>
          </a:solidFill>
          <a:ln w="12700">
            <a:solidFill>
              <a:srgbClr val="E2E8F0"/>
            </a:solidFill>
            <a:prstDash val="solid"/>
          </a:ln>
          <a:effectLst>
            <a:outerShdw sx="100000" sy="100000" kx="0" ky="0" algn="bl" rotWithShape="0" blurRad="101600" dist="25400" dir="2700000">
              <a:srgbClr val="000000">
                <a:alpha val="8000"/>
              </a:srgbClr>
            </a:outerShdw>
          </a:effectLst>
        </p:spPr>
      </p:sp>
      <p:sp>
        <p:nvSpPr>
          <p:cNvPr id="8" name="Text 6"/>
          <p:cNvSpPr/>
          <p:nvPr/>
        </p:nvSpPr>
        <p:spPr>
          <a:xfrm>
            <a:off x="4919472" y="1161288"/>
            <a:ext cx="502920" cy="329184"/>
          </a:xfrm>
          <a:prstGeom prst="rect">
            <a:avLst/>
          </a:prstGeom>
          <a:noFill/>
          <a:ln/>
        </p:spPr>
        <p:txBody>
          <a:bodyPr wrap="square" lIns="0" tIns="0" rIns="0" bIns="0" rtlCol="0" anchor="ctr"/>
          <a:lstStyle/>
          <a:p>
            <a:pPr indent="0" marL="0">
              <a:buNone/>
            </a:pPr>
            <a:r>
              <a:rPr lang="en-US" sz="1700" b="1" dirty="0">
                <a:solidFill>
                  <a:srgbClr val="2563EB"/>
                </a:solidFill>
                <a:latin typeface="Calibri" pitchFamily="34" charset="0"/>
                <a:ea typeface="Calibri" pitchFamily="34" charset="-122"/>
                <a:cs typeface="Calibri" pitchFamily="34" charset="-120"/>
              </a:rPr>
              <a:t>02</a:t>
            </a:r>
            <a:endParaRPr lang="en-US" sz="1700" dirty="0"/>
          </a:p>
        </p:txBody>
      </p:sp>
      <p:sp>
        <p:nvSpPr>
          <p:cNvPr id="9" name="Text 7"/>
          <p:cNvSpPr/>
          <p:nvPr/>
        </p:nvSpPr>
        <p:spPr>
          <a:xfrm>
            <a:off x="5449824" y="1161288"/>
            <a:ext cx="2999232" cy="329184"/>
          </a:xfrm>
          <a:prstGeom prst="rect">
            <a:avLst/>
          </a:prstGeom>
          <a:noFill/>
          <a:ln/>
        </p:spPr>
        <p:txBody>
          <a:bodyPr wrap="square" lIns="0" tIns="0" rIns="0" bIns="0" rtlCol="0" anchor="ctr"/>
          <a:lstStyle/>
          <a:p>
            <a:pPr indent="0" marL="0">
              <a:buNone/>
            </a:pPr>
            <a:r>
              <a:rPr lang="en-US" sz="1350" b="1" dirty="0">
                <a:solidFill>
                  <a:srgbClr val="1A3A5C"/>
                </a:solidFill>
                <a:latin typeface="Cambria" pitchFamily="34" charset="0"/>
                <a:ea typeface="Cambria" pitchFamily="34" charset="-122"/>
                <a:cs typeface="Cambria" pitchFamily="34" charset="-120"/>
              </a:rPr>
              <a:t>Asistenta AI</a:t>
            </a:r>
            <a:endParaRPr lang="en-US" sz="1350" dirty="0"/>
          </a:p>
        </p:txBody>
      </p:sp>
      <p:sp>
        <p:nvSpPr>
          <p:cNvPr id="10" name="Text 8"/>
          <p:cNvSpPr/>
          <p:nvPr/>
        </p:nvSpPr>
        <p:spPr>
          <a:xfrm>
            <a:off x="4919472" y="1563624"/>
            <a:ext cx="3511296" cy="7315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AutoSeg cu YOLOE pentru detectii si contururi. AutoMask cu Mask2Former pentru masti.</a:t>
            </a:r>
            <a:endParaRPr lang="en-US" sz="1250" dirty="0"/>
          </a:p>
        </p:txBody>
      </p:sp>
      <p:sp>
        <p:nvSpPr>
          <p:cNvPr id="11" name="Shape 9"/>
          <p:cNvSpPr/>
          <p:nvPr/>
        </p:nvSpPr>
        <p:spPr>
          <a:xfrm>
            <a:off x="457200" y="2606040"/>
            <a:ext cx="3840480" cy="1371600"/>
          </a:xfrm>
          <a:prstGeom prst="roundRect">
            <a:avLst>
              <a:gd name="adj" fmla="val 5333"/>
            </a:avLst>
          </a:prstGeom>
          <a:solidFill>
            <a:srgbClr val="F1F5F9"/>
          </a:solidFill>
          <a:ln w="12700">
            <a:solidFill>
              <a:srgbClr val="E2E8F0"/>
            </a:solidFill>
            <a:prstDash val="solid"/>
          </a:ln>
          <a:effectLst>
            <a:outerShdw sx="100000" sy="100000" kx="0" ky="0" algn="bl" rotWithShape="0" blurRad="101600" dist="25400" dir="2700000">
              <a:srgbClr val="000000">
                <a:alpha val="8000"/>
              </a:srgbClr>
            </a:outerShdw>
          </a:effectLst>
        </p:spPr>
      </p:sp>
      <p:sp>
        <p:nvSpPr>
          <p:cNvPr id="12" name="Text 10"/>
          <p:cNvSpPr/>
          <p:nvPr/>
        </p:nvSpPr>
        <p:spPr>
          <a:xfrm>
            <a:off x="621792" y="2715768"/>
            <a:ext cx="502920" cy="329184"/>
          </a:xfrm>
          <a:prstGeom prst="rect">
            <a:avLst/>
          </a:prstGeom>
          <a:noFill/>
          <a:ln/>
        </p:spPr>
        <p:txBody>
          <a:bodyPr wrap="square" lIns="0" tIns="0" rIns="0" bIns="0" rtlCol="0" anchor="ctr"/>
          <a:lstStyle/>
          <a:p>
            <a:pPr indent="0" marL="0">
              <a:buNone/>
            </a:pPr>
            <a:r>
              <a:rPr lang="en-US" sz="1700" b="1" dirty="0">
                <a:solidFill>
                  <a:srgbClr val="2563EB"/>
                </a:solidFill>
                <a:latin typeface="Calibri" pitchFamily="34" charset="0"/>
                <a:ea typeface="Calibri" pitchFamily="34" charset="-122"/>
                <a:cs typeface="Calibri" pitchFamily="34" charset="-120"/>
              </a:rPr>
              <a:t>03</a:t>
            </a:r>
            <a:endParaRPr lang="en-US" sz="1700" dirty="0"/>
          </a:p>
        </p:txBody>
      </p:sp>
      <p:sp>
        <p:nvSpPr>
          <p:cNvPr id="13" name="Text 11"/>
          <p:cNvSpPr/>
          <p:nvPr/>
        </p:nvSpPr>
        <p:spPr>
          <a:xfrm>
            <a:off x="1152144" y="2715768"/>
            <a:ext cx="2999232" cy="329184"/>
          </a:xfrm>
          <a:prstGeom prst="rect">
            <a:avLst/>
          </a:prstGeom>
          <a:noFill/>
          <a:ln/>
        </p:spPr>
        <p:txBody>
          <a:bodyPr wrap="square" lIns="0" tIns="0" rIns="0" bIns="0" rtlCol="0" anchor="ctr"/>
          <a:lstStyle/>
          <a:p>
            <a:pPr indent="0" marL="0">
              <a:buNone/>
            </a:pPr>
            <a:r>
              <a:rPr lang="en-US" sz="1350" b="1" dirty="0">
                <a:solidFill>
                  <a:srgbClr val="1A3A5C"/>
                </a:solidFill>
                <a:latin typeface="Cambria" pitchFamily="34" charset="0"/>
                <a:ea typeface="Cambria" pitchFamily="34" charset="-122"/>
                <a:cs typeface="Cambria" pitchFamily="34" charset="-120"/>
              </a:rPr>
              <a:t>Colaborare realtime</a:t>
            </a:r>
            <a:endParaRPr lang="en-US" sz="1350" dirty="0"/>
          </a:p>
        </p:txBody>
      </p:sp>
      <p:sp>
        <p:nvSpPr>
          <p:cNvPr id="14" name="Text 12"/>
          <p:cNvSpPr/>
          <p:nvPr/>
        </p:nvSpPr>
        <p:spPr>
          <a:xfrm>
            <a:off x="621792" y="3118104"/>
            <a:ext cx="3511296" cy="7315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Autentificare, sesiuni comune, chat si sincronizare live intre utilizatori.</a:t>
            </a:r>
            <a:endParaRPr lang="en-US" sz="1250" dirty="0"/>
          </a:p>
        </p:txBody>
      </p:sp>
      <p:sp>
        <p:nvSpPr>
          <p:cNvPr id="15" name="Shape 13"/>
          <p:cNvSpPr/>
          <p:nvPr/>
        </p:nvSpPr>
        <p:spPr>
          <a:xfrm>
            <a:off x="4754880" y="2606040"/>
            <a:ext cx="3840480" cy="1371600"/>
          </a:xfrm>
          <a:prstGeom prst="roundRect">
            <a:avLst>
              <a:gd name="adj" fmla="val 5333"/>
            </a:avLst>
          </a:prstGeom>
          <a:solidFill>
            <a:srgbClr val="F1F5F9"/>
          </a:solidFill>
          <a:ln w="12700">
            <a:solidFill>
              <a:srgbClr val="E2E8F0"/>
            </a:solidFill>
            <a:prstDash val="solid"/>
          </a:ln>
          <a:effectLst>
            <a:outerShdw sx="100000" sy="100000" kx="0" ky="0" algn="bl" rotWithShape="0" blurRad="101600" dist="25400" dir="2700000">
              <a:srgbClr val="000000">
                <a:alpha val="8000"/>
              </a:srgbClr>
            </a:outerShdw>
          </a:effectLst>
        </p:spPr>
      </p:sp>
      <p:sp>
        <p:nvSpPr>
          <p:cNvPr id="16" name="Text 14"/>
          <p:cNvSpPr/>
          <p:nvPr/>
        </p:nvSpPr>
        <p:spPr>
          <a:xfrm>
            <a:off x="4919472" y="2715768"/>
            <a:ext cx="502920" cy="329184"/>
          </a:xfrm>
          <a:prstGeom prst="rect">
            <a:avLst/>
          </a:prstGeom>
          <a:noFill/>
          <a:ln/>
        </p:spPr>
        <p:txBody>
          <a:bodyPr wrap="square" lIns="0" tIns="0" rIns="0" bIns="0" rtlCol="0" anchor="ctr"/>
          <a:lstStyle/>
          <a:p>
            <a:pPr indent="0" marL="0">
              <a:buNone/>
            </a:pPr>
            <a:r>
              <a:rPr lang="en-US" sz="1700" b="1" dirty="0">
                <a:solidFill>
                  <a:srgbClr val="2563EB"/>
                </a:solidFill>
                <a:latin typeface="Calibri" pitchFamily="34" charset="0"/>
                <a:ea typeface="Calibri" pitchFamily="34" charset="-122"/>
                <a:cs typeface="Calibri" pitchFamily="34" charset="-120"/>
              </a:rPr>
              <a:t>04</a:t>
            </a:r>
            <a:endParaRPr lang="en-US" sz="1700" dirty="0"/>
          </a:p>
        </p:txBody>
      </p:sp>
      <p:sp>
        <p:nvSpPr>
          <p:cNvPr id="17" name="Text 15"/>
          <p:cNvSpPr/>
          <p:nvPr/>
        </p:nvSpPr>
        <p:spPr>
          <a:xfrm>
            <a:off x="5449824" y="2715768"/>
            <a:ext cx="2999232" cy="329184"/>
          </a:xfrm>
          <a:prstGeom prst="rect">
            <a:avLst/>
          </a:prstGeom>
          <a:noFill/>
          <a:ln/>
        </p:spPr>
        <p:txBody>
          <a:bodyPr wrap="square" lIns="0" tIns="0" rIns="0" bIns="0" rtlCol="0" anchor="ctr"/>
          <a:lstStyle/>
          <a:p>
            <a:pPr indent="0" marL="0">
              <a:buNone/>
            </a:pPr>
            <a:r>
              <a:rPr lang="en-US" sz="1350" b="1" dirty="0">
                <a:solidFill>
                  <a:srgbClr val="1A3A5C"/>
                </a:solidFill>
                <a:latin typeface="Cambria" pitchFamily="34" charset="0"/>
                <a:ea typeface="Cambria" pitchFamily="34" charset="-122"/>
                <a:cs typeface="Cambria" pitchFamily="34" charset="-120"/>
              </a:rPr>
              <a:t>Export dataset</a:t>
            </a:r>
            <a:endParaRPr lang="en-US" sz="1350" dirty="0"/>
          </a:p>
        </p:txBody>
      </p:sp>
      <p:sp>
        <p:nvSpPr>
          <p:cNvPr id="18" name="Text 16"/>
          <p:cNvSpPr/>
          <p:nvPr/>
        </p:nvSpPr>
        <p:spPr>
          <a:xfrm>
            <a:off x="4919472" y="3118104"/>
            <a:ext cx="3511296" cy="7315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Formate JSON, COCO si YOLO — gata pentru pipeline-uri de Machine Learning.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algn="l" indent="0" marL="0">
              <a:buNone/>
            </a:pPr>
            <a:r>
              <a:rPr lang="en-US" sz="2700" b="1" dirty="0">
                <a:solidFill>
                  <a:srgbClr val="1A3A5C"/>
                </a:solidFill>
                <a:latin typeface="Cambria" pitchFamily="34" charset="0"/>
                <a:ea typeface="Cambria" pitchFamily="34" charset="-122"/>
                <a:cs typeface="Cambria" pitchFamily="34" charset="-120"/>
              </a:rPr>
              <a:t>Solutia propusa — PyVisionAnnotator</a:t>
            </a:r>
            <a:endParaRPr lang="en-US" sz="2700" dirty="0"/>
          </a:p>
        </p:txBody>
      </p:sp>
      <p:sp>
        <p:nvSpPr>
          <p:cNvPr id="3" name="Text 1"/>
          <p:cNvSpPr/>
          <p:nvPr/>
        </p:nvSpPr>
        <p:spPr>
          <a:xfrm>
            <a:off x="457200" y="1051560"/>
            <a:ext cx="5394960" cy="3749040"/>
          </a:xfrm>
          <a:prstGeom prst="rect">
            <a:avLst/>
          </a:prstGeom>
          <a:noFill/>
          <a:ln/>
        </p:spPr>
        <p:txBody>
          <a:bodyPr wrap="square" rtlCol="0" anchor="ctr"/>
          <a:lstStyle/>
          <a:p>
            <a:pPr marL="342900" indent="-342900">
              <a:spcAft>
                <a:spcPts val="1200"/>
              </a:spcAft>
              <a:buSzPct val="100000"/>
              <a:buChar char="•"/>
            </a:pPr>
            <a:r>
              <a:rPr lang="en-US" sz="1450" dirty="0">
                <a:solidFill>
                  <a:srgbClr val="1E293B"/>
                </a:solidFill>
                <a:latin typeface="Calibri" pitchFamily="34" charset="0"/>
                <a:ea typeface="Calibri" pitchFamily="34" charset="-122"/>
                <a:cs typeface="Calibri" pitchFamily="34" charset="-120"/>
              </a:rPr>
              <a:t>Canvas central pentru desenare si editare directa pe imagini.</a:t>
            </a:r>
            <a:endParaRPr lang="en-US" sz="1450" dirty="0"/>
          </a:p>
          <a:p>
            <a:pPr marL="342900" indent="-342900">
              <a:spcAft>
                <a:spcPts val="1200"/>
              </a:spcAft>
              <a:buSzPct val="100000"/>
              <a:buChar char="•"/>
            </a:pPr>
            <a:r>
              <a:rPr lang="en-US" sz="1450" dirty="0">
                <a:solidFill>
                  <a:srgbClr val="1E293B"/>
                </a:solidFill>
                <a:latin typeface="Calibri" pitchFamily="34" charset="0"/>
                <a:ea typeface="Calibri" pitchFamily="34" charset="-122"/>
                <a:cs typeface="Calibri" pitchFamily="34" charset="-120"/>
              </a:rPr>
              <a:t>Panouri laterale: imagini, proprietati, clase si setari.</a:t>
            </a:r>
            <a:endParaRPr lang="en-US" sz="1450" dirty="0"/>
          </a:p>
          <a:p>
            <a:pPr marL="342900" indent="-342900">
              <a:spcAft>
                <a:spcPts val="1200"/>
              </a:spcAft>
              <a:buSzPct val="100000"/>
              <a:buChar char="•"/>
            </a:pPr>
            <a:r>
              <a:rPr lang="en-US" sz="1450" dirty="0">
                <a:solidFill>
                  <a:srgbClr val="1E293B"/>
                </a:solidFill>
                <a:latin typeface="Calibri" pitchFamily="34" charset="0"/>
                <a:ea typeface="Calibri" pitchFamily="34" charset="-122"/>
                <a:cs typeface="Calibri" pitchFamily="34" charset="-120"/>
              </a:rPr>
              <a:t>AutoSeg: YOLOE detecteaza obiectele si propune contururi ca poligoane.</a:t>
            </a:r>
            <a:endParaRPr lang="en-US" sz="1450" dirty="0"/>
          </a:p>
          <a:p>
            <a:pPr marL="342900" indent="-342900">
              <a:spcAft>
                <a:spcPts val="1200"/>
              </a:spcAft>
              <a:buSzPct val="100000"/>
              <a:buChar char="•"/>
            </a:pPr>
            <a:r>
              <a:rPr lang="en-US" sz="1450" dirty="0">
                <a:solidFill>
                  <a:srgbClr val="1E293B"/>
                </a:solidFill>
                <a:latin typeface="Calibri" pitchFamily="34" charset="0"/>
                <a:ea typeface="Calibri" pitchFamily="34" charset="-122"/>
                <a:cs typeface="Calibri" pitchFamily="34" charset="-120"/>
              </a:rPr>
              <a:t>AutoMask: Mask2Former genereaza masti pornind de la un punct ales de utilizator.</a:t>
            </a:r>
            <a:endParaRPr lang="en-US" sz="1450" dirty="0"/>
          </a:p>
          <a:p>
            <a:pPr marL="342900" indent="-342900">
              <a:spcAft>
                <a:spcPts val="1200"/>
              </a:spcAft>
              <a:buSzPct val="100000"/>
              <a:buChar char="•"/>
            </a:pPr>
            <a:r>
              <a:rPr lang="en-US" sz="1450" dirty="0">
                <a:solidFill>
                  <a:srgbClr val="1E293B"/>
                </a:solidFill>
                <a:latin typeface="Calibri" pitchFamily="34" charset="0"/>
                <a:ea typeface="Calibri" pitchFamily="34" charset="-122"/>
                <a:cs typeface="Calibri" pitchFamily="34" charset="-120"/>
              </a:rPr>
              <a:t>Flux human-in-the-loop: AI-ul propune, utilizatorul valideaza si editeaza.</a:t>
            </a:r>
            <a:endParaRPr lang="en-US" sz="1450" dirty="0"/>
          </a:p>
        </p:txBody>
      </p:sp>
      <p:sp>
        <p:nvSpPr>
          <p:cNvPr id="4" name="Shape 2"/>
          <p:cNvSpPr/>
          <p:nvPr/>
        </p:nvSpPr>
        <p:spPr>
          <a:xfrm>
            <a:off x="6172200" y="1234440"/>
            <a:ext cx="2606040" cy="685800"/>
          </a:xfrm>
          <a:prstGeom prst="roundRect">
            <a:avLst>
              <a:gd name="adj" fmla="val 10667"/>
            </a:avLst>
          </a:prstGeom>
          <a:solidFill>
            <a:srgbClr val="EFF6FF"/>
          </a:solidFill>
          <a:ln w="12700">
            <a:solidFill>
              <a:srgbClr val="BFDBFE"/>
            </a:solidFill>
            <a:prstDash val="solid"/>
          </a:ln>
          <a:effectLst>
            <a:outerShdw sx="100000" sy="100000" kx="0" ky="0" algn="bl" rotWithShape="0" blurRad="101600" dist="25400" dir="2700000">
              <a:srgbClr val="000000">
                <a:alpha val="8000"/>
              </a:srgbClr>
            </a:outerShdw>
          </a:effectLst>
        </p:spPr>
      </p:sp>
      <p:sp>
        <p:nvSpPr>
          <p:cNvPr id="5" name="Text 3"/>
          <p:cNvSpPr/>
          <p:nvPr/>
        </p:nvSpPr>
        <p:spPr>
          <a:xfrm>
            <a:off x="6172200" y="1234440"/>
            <a:ext cx="2606040" cy="685800"/>
          </a:xfrm>
          <a:prstGeom prst="rect">
            <a:avLst/>
          </a:prstGeom>
          <a:noFill/>
          <a:ln/>
        </p:spPr>
        <p:txBody>
          <a:bodyPr wrap="square" rtlCol="0" anchor="ctr"/>
          <a:lstStyle/>
          <a:p>
            <a:pPr algn="ctr" indent="0" marL="0">
              <a:buNone/>
            </a:pPr>
            <a:r>
              <a:rPr lang="en-US" sz="1250" b="1" dirty="0">
                <a:solidFill>
                  <a:srgbClr val="1A3A5C"/>
                </a:solidFill>
                <a:latin typeface="Calibri" pitchFamily="34" charset="0"/>
                <a:ea typeface="Calibri" pitchFamily="34" charset="-122"/>
                <a:cs typeface="Calibri" pitchFamily="34" charset="-120"/>
              </a:rPr>
              <a:t>PyQt Desktop App</a:t>
            </a:r>
            <a:endParaRPr lang="en-US" sz="1250" dirty="0"/>
          </a:p>
        </p:txBody>
      </p:sp>
      <p:sp>
        <p:nvSpPr>
          <p:cNvPr id="6" name="Shape 4"/>
          <p:cNvSpPr/>
          <p:nvPr/>
        </p:nvSpPr>
        <p:spPr>
          <a:xfrm>
            <a:off x="6172200" y="2286000"/>
            <a:ext cx="2606040" cy="685800"/>
          </a:xfrm>
          <a:prstGeom prst="roundRect">
            <a:avLst>
              <a:gd name="adj" fmla="val 10667"/>
            </a:avLst>
          </a:prstGeom>
          <a:solidFill>
            <a:srgbClr val="EFF6FF"/>
          </a:solidFill>
          <a:ln w="12700">
            <a:solidFill>
              <a:srgbClr val="BFDBFE"/>
            </a:solidFill>
            <a:prstDash val="solid"/>
          </a:ln>
          <a:effectLst>
            <a:outerShdw sx="100000" sy="100000" kx="0" ky="0" algn="bl" rotWithShape="0" blurRad="101600" dist="25400" dir="2700000">
              <a:srgbClr val="000000">
                <a:alpha val="8000"/>
              </a:srgbClr>
            </a:outerShdw>
          </a:effectLst>
        </p:spPr>
      </p:sp>
      <p:sp>
        <p:nvSpPr>
          <p:cNvPr id="7" name="Text 5"/>
          <p:cNvSpPr/>
          <p:nvPr/>
        </p:nvSpPr>
        <p:spPr>
          <a:xfrm>
            <a:off x="6172200" y="2286000"/>
            <a:ext cx="2606040" cy="685800"/>
          </a:xfrm>
          <a:prstGeom prst="rect">
            <a:avLst/>
          </a:prstGeom>
          <a:noFill/>
          <a:ln/>
        </p:spPr>
        <p:txBody>
          <a:bodyPr wrap="square" rtlCol="0" anchor="ctr"/>
          <a:lstStyle/>
          <a:p>
            <a:pPr algn="ctr" indent="0" marL="0">
              <a:buNone/>
            </a:pPr>
            <a:r>
              <a:rPr lang="en-US" sz="1250" b="1" dirty="0">
                <a:solidFill>
                  <a:srgbClr val="1A3A5C"/>
                </a:solidFill>
                <a:latin typeface="Calibri" pitchFamily="34" charset="0"/>
                <a:ea typeface="Calibri" pitchFamily="34" charset="-122"/>
                <a:cs typeface="Calibri" pitchFamily="34" charset="-120"/>
              </a:rPr>
              <a:t>AI local pe device</a:t>
            </a:r>
            <a:endParaRPr lang="en-US" sz="1250" dirty="0"/>
          </a:p>
        </p:txBody>
      </p:sp>
      <p:sp>
        <p:nvSpPr>
          <p:cNvPr id="8" name="Shape 6"/>
          <p:cNvSpPr/>
          <p:nvPr/>
        </p:nvSpPr>
        <p:spPr>
          <a:xfrm>
            <a:off x="6172200" y="3337560"/>
            <a:ext cx="2606040" cy="685800"/>
          </a:xfrm>
          <a:prstGeom prst="roundRect">
            <a:avLst>
              <a:gd name="adj" fmla="val 10667"/>
            </a:avLst>
          </a:prstGeom>
          <a:solidFill>
            <a:srgbClr val="EFF6FF"/>
          </a:solidFill>
          <a:ln w="12700">
            <a:solidFill>
              <a:srgbClr val="BFDBFE"/>
            </a:solidFill>
            <a:prstDash val="solid"/>
          </a:ln>
          <a:effectLst>
            <a:outerShdw sx="100000" sy="100000" kx="0" ky="0" algn="bl" rotWithShape="0" blurRad="101600" dist="25400" dir="2700000">
              <a:srgbClr val="000000">
                <a:alpha val="8000"/>
              </a:srgbClr>
            </a:outerShdw>
          </a:effectLst>
        </p:spPr>
      </p:sp>
      <p:sp>
        <p:nvSpPr>
          <p:cNvPr id="9" name="Text 7"/>
          <p:cNvSpPr/>
          <p:nvPr/>
        </p:nvSpPr>
        <p:spPr>
          <a:xfrm>
            <a:off x="6172200" y="3337560"/>
            <a:ext cx="2606040" cy="685800"/>
          </a:xfrm>
          <a:prstGeom prst="rect">
            <a:avLst/>
          </a:prstGeom>
          <a:noFill/>
          <a:ln/>
        </p:spPr>
        <p:txBody>
          <a:bodyPr wrap="square" rtlCol="0" anchor="ctr"/>
          <a:lstStyle/>
          <a:p>
            <a:pPr algn="ctr" indent="0" marL="0">
              <a:buNone/>
            </a:pPr>
            <a:r>
              <a:rPr lang="en-US" sz="1250" b="1" dirty="0">
                <a:solidFill>
                  <a:srgbClr val="1A3A5C"/>
                </a:solidFill>
                <a:latin typeface="Calibri" pitchFamily="34" charset="0"/>
                <a:ea typeface="Calibri" pitchFamily="34" charset="-122"/>
                <a:cs typeface="Calibri" pitchFamily="34" charset="-120"/>
              </a:rPr>
              <a:t>Colaborare realtime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algn="l" indent="0" marL="0">
              <a:buNone/>
            </a:pPr>
            <a:r>
              <a:rPr lang="en-US" sz="2800" b="1" dirty="0">
                <a:solidFill>
                  <a:srgbClr val="1A3A5C"/>
                </a:solidFill>
                <a:latin typeface="Cambria" pitchFamily="34" charset="0"/>
                <a:ea typeface="Cambria" pitchFamily="34" charset="-122"/>
                <a:cs typeface="Cambria" pitchFamily="34" charset="-120"/>
              </a:rPr>
              <a:t>Arhitectura</a:t>
            </a:r>
            <a:endParaRPr lang="en-US" sz="2800" dirty="0"/>
          </a:p>
        </p:txBody>
      </p:sp>
      <p:sp>
        <p:nvSpPr>
          <p:cNvPr id="3" name="Shape 1"/>
          <p:cNvSpPr/>
          <p:nvPr/>
        </p:nvSpPr>
        <p:spPr>
          <a:xfrm>
            <a:off x="457200" y="1060704"/>
            <a:ext cx="329184" cy="329184"/>
          </a:xfrm>
          <a:prstGeom prst="ellipse">
            <a:avLst/>
          </a:prstGeom>
          <a:solidFill>
            <a:srgbClr val="2563EB"/>
          </a:solidFill>
          <a:ln w="12700">
            <a:solidFill>
              <a:srgbClr val="2563EB"/>
            </a:solidFill>
            <a:prstDash val="solid"/>
          </a:ln>
        </p:spPr>
      </p:sp>
      <p:sp>
        <p:nvSpPr>
          <p:cNvPr id="4" name="Text 2"/>
          <p:cNvSpPr/>
          <p:nvPr/>
        </p:nvSpPr>
        <p:spPr>
          <a:xfrm>
            <a:off x="457200" y="10607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932688" y="1051560"/>
            <a:ext cx="3246120" cy="347472"/>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Frontend desktop</a:t>
            </a:r>
            <a:endParaRPr lang="en-US" sz="1300" dirty="0"/>
          </a:p>
        </p:txBody>
      </p:sp>
      <p:sp>
        <p:nvSpPr>
          <p:cNvPr id="6" name="Text 4"/>
          <p:cNvSpPr/>
          <p:nvPr/>
        </p:nvSpPr>
        <p:spPr>
          <a:xfrm>
            <a:off x="932688" y="1435608"/>
            <a:ext cx="3246120" cy="7315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Python + PyQt — canvas, toolbar si panouri. Workers locali pentru operatii asincrone.</a:t>
            </a:r>
            <a:endParaRPr lang="en-US" sz="1150" dirty="0"/>
          </a:p>
        </p:txBody>
      </p:sp>
      <p:sp>
        <p:nvSpPr>
          <p:cNvPr id="7" name="Shape 5"/>
          <p:cNvSpPr/>
          <p:nvPr/>
        </p:nvSpPr>
        <p:spPr>
          <a:xfrm>
            <a:off x="457200" y="2322576"/>
            <a:ext cx="329184" cy="329184"/>
          </a:xfrm>
          <a:prstGeom prst="ellipse">
            <a:avLst/>
          </a:prstGeom>
          <a:solidFill>
            <a:srgbClr val="2563EB"/>
          </a:solidFill>
          <a:ln w="12700">
            <a:solidFill>
              <a:srgbClr val="2563EB"/>
            </a:solidFill>
            <a:prstDash val="solid"/>
          </a:ln>
        </p:spPr>
      </p:sp>
      <p:sp>
        <p:nvSpPr>
          <p:cNvPr id="8" name="Text 6"/>
          <p:cNvSpPr/>
          <p:nvPr/>
        </p:nvSpPr>
        <p:spPr>
          <a:xfrm>
            <a:off x="457200" y="23225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932688" y="2313432"/>
            <a:ext cx="3246120" cy="347472"/>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AI local</a:t>
            </a:r>
            <a:endParaRPr lang="en-US" sz="1300" dirty="0"/>
          </a:p>
        </p:txBody>
      </p:sp>
      <p:sp>
        <p:nvSpPr>
          <p:cNvPr id="10" name="Text 8"/>
          <p:cNvSpPr/>
          <p:nvPr/>
        </p:nvSpPr>
        <p:spPr>
          <a:xfrm>
            <a:off x="932688" y="2697480"/>
            <a:ext cx="3246120" cy="7315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YOLOE (AutoSeg), Mask2Former (AutoMask), chatbot prin Ollama / llama.cpp.</a:t>
            </a:r>
            <a:endParaRPr lang="en-US" sz="1150" dirty="0"/>
          </a:p>
        </p:txBody>
      </p:sp>
      <p:sp>
        <p:nvSpPr>
          <p:cNvPr id="11" name="Shape 9"/>
          <p:cNvSpPr/>
          <p:nvPr/>
        </p:nvSpPr>
        <p:spPr>
          <a:xfrm>
            <a:off x="457200" y="3584448"/>
            <a:ext cx="329184" cy="329184"/>
          </a:xfrm>
          <a:prstGeom prst="ellipse">
            <a:avLst/>
          </a:prstGeom>
          <a:solidFill>
            <a:srgbClr val="2563EB"/>
          </a:solidFill>
          <a:ln w="12700">
            <a:solidFill>
              <a:srgbClr val="2563EB"/>
            </a:solidFill>
            <a:prstDash val="solid"/>
          </a:ln>
        </p:spPr>
      </p:sp>
      <p:sp>
        <p:nvSpPr>
          <p:cNvPr id="12" name="Text 10"/>
          <p:cNvSpPr/>
          <p:nvPr/>
        </p:nvSpPr>
        <p:spPr>
          <a:xfrm>
            <a:off x="457200" y="35844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p:nvPr/>
        </p:nvSpPr>
        <p:spPr>
          <a:xfrm>
            <a:off x="932688" y="3575304"/>
            <a:ext cx="3246120" cy="347472"/>
          </a:xfrm>
          <a:prstGeom prst="rect">
            <a:avLst/>
          </a:prstGeom>
          <a:noFill/>
          <a:ln/>
        </p:spPr>
        <p:txBody>
          <a:bodyPr wrap="square" lIns="0" tIns="0" rIns="0" bIns="0" rtlCol="0" anchor="ctr"/>
          <a:lstStyle/>
          <a:p>
            <a:pPr indent="0" marL="0">
              <a:buNone/>
            </a:pPr>
            <a:r>
              <a:rPr lang="en-US" sz="1300" b="1" dirty="0">
                <a:solidFill>
                  <a:srgbClr val="1A3A5C"/>
                </a:solidFill>
                <a:latin typeface="Cambria" pitchFamily="34" charset="0"/>
                <a:ea typeface="Cambria" pitchFamily="34" charset="-122"/>
                <a:cs typeface="Cambria" pitchFamily="34" charset="-120"/>
              </a:rPr>
              <a:t>Backend colaborativ</a:t>
            </a:r>
            <a:endParaRPr lang="en-US" sz="1300" dirty="0"/>
          </a:p>
        </p:txBody>
      </p:sp>
      <p:sp>
        <p:nvSpPr>
          <p:cNvPr id="14" name="Text 12"/>
          <p:cNvSpPr/>
          <p:nvPr/>
        </p:nvSpPr>
        <p:spPr>
          <a:xfrm>
            <a:off x="932688" y="3959352"/>
            <a:ext cx="3246120" cy="7315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Spring Boot — auth, chat, annotation. REST + WebSocket/STOMP. RabbitMQ, PostgreSQL, Docker.</a:t>
            </a:r>
            <a:endParaRPr lang="en-US" sz="1150" dirty="0"/>
          </a:p>
        </p:txBody>
      </p:sp>
      <p:pic>
        <p:nvPicPr>
          <p:cNvPr id="15" name="Image 0" descr="Diagrama arhitectura PyVisionAnnotator">    </p:cNvPr>
          <p:cNvPicPr>
            <a:picLocks noChangeAspect="1"/>
          </p:cNvPicPr>
          <p:nvPr/>
        </p:nvPicPr>
        <p:blipFill>
          <a:blip r:embed="rId1"/>
          <a:stretch>
            <a:fillRect/>
          </a:stretch>
        </p:blipFill>
        <p:spPr>
          <a:xfrm>
            <a:off x="4389120" y="914400"/>
            <a:ext cx="4480560" cy="29772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algn="l" indent="0" marL="0">
              <a:buNone/>
            </a:pPr>
            <a:r>
              <a:rPr lang="en-US" sz="2800" b="1" dirty="0">
                <a:solidFill>
                  <a:srgbClr val="1A3A5C"/>
                </a:solidFill>
                <a:latin typeface="Cambria" pitchFamily="34" charset="0"/>
                <a:ea typeface="Cambria" pitchFamily="34" charset="-122"/>
                <a:cs typeface="Cambria" pitchFamily="34" charset="-120"/>
              </a:rPr>
              <a:t>Evaluare</a:t>
            </a:r>
            <a:endParaRPr lang="en-US" sz="2800" dirty="0"/>
          </a:p>
        </p:txBody>
      </p:sp>
      <p:sp>
        <p:nvSpPr>
          <p:cNvPr id="3" name="Text 1"/>
          <p:cNvSpPr/>
          <p:nvPr/>
        </p:nvSpPr>
        <p:spPr>
          <a:xfrm>
            <a:off x="457200" y="1051560"/>
            <a:ext cx="3657600" cy="384048"/>
          </a:xfrm>
          <a:prstGeom prst="rect">
            <a:avLst/>
          </a:prstGeom>
          <a:noFill/>
          <a:ln/>
        </p:spPr>
        <p:txBody>
          <a:bodyPr wrap="square"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Client PyQt</a:t>
            </a:r>
            <a:endParaRPr lang="en-US" sz="1500" dirty="0"/>
          </a:p>
        </p:txBody>
      </p:sp>
      <p:sp>
        <p:nvSpPr>
          <p:cNvPr id="4" name="Text 2"/>
          <p:cNvSpPr/>
          <p:nvPr/>
        </p:nvSpPr>
        <p:spPr>
          <a:xfrm>
            <a:off x="457200" y="1490472"/>
            <a:ext cx="3749040" cy="1920240"/>
          </a:xfrm>
          <a:prstGeom prst="rect">
            <a:avLst/>
          </a:prstGeom>
          <a:noFill/>
          <a:ln/>
        </p:spPr>
        <p:txBody>
          <a:bodyPr wrap="square" rtlCol="0" anchor="ctr"/>
          <a:lstStyle/>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Scenarii manuale pentru desenare, selectie si editare.</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Testare setari persistente, export si import adnotari.</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Validare flux AutoSeg si AutoMask end-to-end.</a:t>
            </a:r>
            <a:endParaRPr lang="en-US" sz="1350" dirty="0"/>
          </a:p>
        </p:txBody>
      </p:sp>
      <p:sp>
        <p:nvSpPr>
          <p:cNvPr id="5" name="Text 3"/>
          <p:cNvSpPr/>
          <p:nvPr/>
        </p:nvSpPr>
        <p:spPr>
          <a:xfrm>
            <a:off x="4846320" y="1051560"/>
            <a:ext cx="3840480" cy="384048"/>
          </a:xfrm>
          <a:prstGeom prst="rect">
            <a:avLst/>
          </a:prstGeom>
          <a:noFill/>
          <a:ln/>
        </p:spPr>
        <p:txBody>
          <a:bodyPr wrap="square" rtlCol="0" anchor="ctr"/>
          <a:lstStyle/>
          <a:p>
            <a:pPr indent="0" marL="0">
              <a:buNone/>
            </a:pPr>
            <a:r>
              <a:rPr lang="en-US" sz="1500" b="1" dirty="0">
                <a:solidFill>
                  <a:srgbClr val="1A3A5C"/>
                </a:solidFill>
                <a:latin typeface="Cambria" pitchFamily="34" charset="0"/>
                <a:ea typeface="Cambria" pitchFamily="34" charset="-122"/>
                <a:cs typeface="Cambria" pitchFamily="34" charset="-120"/>
              </a:rPr>
              <a:t>Backend Spring Boot</a:t>
            </a:r>
            <a:endParaRPr lang="en-US" sz="1500" dirty="0"/>
          </a:p>
        </p:txBody>
      </p:sp>
      <p:sp>
        <p:nvSpPr>
          <p:cNvPr id="6" name="Text 4"/>
          <p:cNvSpPr/>
          <p:nvPr/>
        </p:nvSpPr>
        <p:spPr>
          <a:xfrm>
            <a:off x="4846320" y="1490472"/>
            <a:ext cx="3840480" cy="1920240"/>
          </a:xfrm>
          <a:prstGeom prst="rect">
            <a:avLst/>
          </a:prstGeom>
          <a:noFill/>
          <a:ln/>
        </p:spPr>
        <p:txBody>
          <a:bodyPr wrap="square" rtlCol="0" anchor="ctr"/>
          <a:lstStyle/>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Teste JUnit pentru serviciile principale.</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Scenarii de integrare pentru auth, chat si colaborare.</a:t>
            </a:r>
            <a:endParaRPr lang="en-US" sz="1350" dirty="0"/>
          </a:p>
          <a:p>
            <a:pPr marL="342900" indent="-342900">
              <a:spcAft>
                <a:spcPts val="1000"/>
              </a:spcAft>
              <a:buSzPct val="100000"/>
              <a:buChar char="•"/>
            </a:pPr>
            <a:r>
              <a:rPr lang="en-US" sz="1350" dirty="0">
                <a:solidFill>
                  <a:srgbClr val="1E293B"/>
                </a:solidFill>
                <a:latin typeface="Calibri" pitchFamily="34" charset="0"/>
                <a:ea typeface="Calibri" pitchFamily="34" charset="-122"/>
                <a:cs typeface="Calibri" pitchFamily="34" charset="-120"/>
              </a:rPr>
              <a:t>Verificari Postman pentru endpoint-uri REST.</a:t>
            </a:r>
            <a:endParaRPr lang="en-US" sz="1350" dirty="0"/>
          </a:p>
        </p:txBody>
      </p:sp>
      <p:sp>
        <p:nvSpPr>
          <p:cNvPr id="7" name="Text 5"/>
          <p:cNvSpPr/>
          <p:nvPr/>
        </p:nvSpPr>
        <p:spPr>
          <a:xfrm>
            <a:off x="457200" y="4315968"/>
            <a:ext cx="8229600" cy="411480"/>
          </a:xfrm>
          <a:prstGeom prst="rect">
            <a:avLst/>
          </a:prstGeom>
          <a:noFill/>
          <a:ln/>
        </p:spPr>
        <p:txBody>
          <a:bodyPr wrap="square"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Criterii urmarite: corectitudine, sincronizare, robustete si export fara pierderi de date.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A5C"/>
        </a:solidFill>
      </p:bgPr>
    </p:bg>
    <p:spTree>
      <p:nvGrpSpPr>
        <p:cNvPr id="1" name=""/>
        <p:cNvGrpSpPr/>
        <p:nvPr/>
      </p:nvGrpSpPr>
      <p:grpSpPr>
        <a:xfrm>
          <a:off x="0" y="0"/>
          <a:ext cx="0" cy="0"/>
          <a:chOff x="0" y="0"/>
          <a:chExt cx="0" cy="0"/>
        </a:xfrm>
      </p:grpSpPr>
      <p:sp>
        <p:nvSpPr>
          <p:cNvPr id="2" name="Text 0"/>
          <p:cNvSpPr/>
          <p:nvPr/>
        </p:nvSpPr>
        <p:spPr>
          <a:xfrm>
            <a:off x="548640" y="384048"/>
            <a:ext cx="8046720" cy="59436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Concluzii</a:t>
            </a:r>
            <a:endParaRPr lang="en-US" sz="2800" dirty="0"/>
          </a:p>
        </p:txBody>
      </p:sp>
      <p:sp>
        <p:nvSpPr>
          <p:cNvPr id="3" name="Text 1"/>
          <p:cNvSpPr/>
          <p:nvPr/>
        </p:nvSpPr>
        <p:spPr>
          <a:xfrm>
            <a:off x="548640" y="1097280"/>
            <a:ext cx="7772400" cy="2697480"/>
          </a:xfrm>
          <a:prstGeom prst="rect">
            <a:avLst/>
          </a:prstGeom>
          <a:noFill/>
          <a:ln/>
        </p:spPr>
        <p:txBody>
          <a:bodyPr wrap="square" rtlCol="0" anchor="ctr"/>
          <a:lstStyle/>
          <a:p>
            <a:pPr marL="342900" indent="-342900">
              <a:spcAft>
                <a:spcPts val="1100"/>
              </a:spcAft>
              <a:buSzPct val="100000"/>
              <a:buChar char="•"/>
            </a:pPr>
            <a:r>
              <a:rPr lang="en-US" sz="1450" dirty="0">
                <a:solidFill>
                  <a:srgbClr val="CBD5E1"/>
                </a:solidFill>
                <a:latin typeface="Calibri" pitchFamily="34" charset="0"/>
                <a:ea typeface="Calibri" pitchFamily="34" charset="-122"/>
                <a:cs typeface="Calibri" pitchFamily="34" charset="-120"/>
              </a:rPr>
              <a:t>Proiectul integreaza adnotarea manuala, asistenta AI si colaborarea intr-un singur tool.</a:t>
            </a:r>
            <a:endParaRPr lang="en-US" sz="1450" dirty="0"/>
          </a:p>
          <a:p>
            <a:pPr marL="342900" indent="-342900">
              <a:spcAft>
                <a:spcPts val="1100"/>
              </a:spcAft>
              <a:buSzPct val="100000"/>
              <a:buChar char="•"/>
            </a:pPr>
            <a:r>
              <a:rPr lang="en-US" sz="1450" dirty="0">
                <a:solidFill>
                  <a:srgbClr val="CBD5E1"/>
                </a:solidFill>
                <a:latin typeface="Calibri" pitchFamily="34" charset="0"/>
                <a:ea typeface="Calibri" pitchFamily="34" charset="-122"/>
                <a:cs typeface="Calibri" pitchFamily="34" charset="-120"/>
              </a:rPr>
              <a:t>Fluxul este human-in-the-loop: utilizatorul pastreaza controlul asupra rezultatului final.</a:t>
            </a:r>
            <a:endParaRPr lang="en-US" sz="1450" dirty="0"/>
          </a:p>
          <a:p>
            <a:pPr marL="342900" indent="-342900">
              <a:spcAft>
                <a:spcPts val="1100"/>
              </a:spcAft>
              <a:buSzPct val="100000"/>
              <a:buChar char="•"/>
            </a:pPr>
            <a:r>
              <a:rPr lang="en-US" sz="1450" dirty="0">
                <a:solidFill>
                  <a:srgbClr val="CBD5E1"/>
                </a:solidFill>
                <a:latin typeface="Calibri" pitchFamily="34" charset="0"/>
                <a:ea typeface="Calibri" pitchFamily="34" charset="-122"/>
                <a:cs typeface="Calibri" pitchFamily="34" charset="-120"/>
              </a:rPr>
              <a:t>Arhitectura modulara permite integrarea de modele noi fara restructurare majora.</a:t>
            </a:r>
            <a:endParaRPr lang="en-US" sz="1450" dirty="0"/>
          </a:p>
          <a:p>
            <a:pPr marL="342900" indent="-342900">
              <a:spcAft>
                <a:spcPts val="1100"/>
              </a:spcAft>
              <a:buSzPct val="100000"/>
              <a:buChar char="•"/>
            </a:pPr>
            <a:r>
              <a:rPr lang="en-US" sz="1450" dirty="0">
                <a:solidFill>
                  <a:srgbClr val="CBD5E1"/>
                </a:solidFill>
                <a:latin typeface="Calibri" pitchFamily="34" charset="0"/>
                <a:ea typeface="Calibri" pitchFamily="34" charset="-122"/>
                <a:cs typeface="Calibri" pitchFamily="34" charset="-120"/>
              </a:rPr>
              <a:t>Exportul in JSON, COCO si YOLO face rezultatele direct utilizabile pentru antrenare ML.</a:t>
            </a:r>
            <a:endParaRPr lang="en-US" sz="1450" dirty="0"/>
          </a:p>
        </p:txBody>
      </p:sp>
      <p:sp>
        <p:nvSpPr>
          <p:cNvPr id="4" name="Text 2"/>
          <p:cNvSpPr/>
          <p:nvPr/>
        </p:nvSpPr>
        <p:spPr>
          <a:xfrm>
            <a:off x="548640" y="4041648"/>
            <a:ext cx="8046720" cy="685800"/>
          </a:xfrm>
          <a:prstGeom prst="rect">
            <a:avLst/>
          </a:prstGeom>
          <a:noFill/>
          <a:ln/>
        </p:spPr>
        <p:txBody>
          <a:bodyPr wrap="square" rtlCol="0" anchor="ctr"/>
          <a:lstStyle/>
          <a:p>
            <a:pPr algn="l" indent="0" marL="0">
              <a:buNone/>
            </a:pPr>
            <a:r>
              <a:rPr lang="en-US" sz="2800" b="1" dirty="0">
                <a:solidFill>
                  <a:srgbClr val="93C5FD"/>
                </a:solidFill>
                <a:latin typeface="Cambria" pitchFamily="34" charset="0"/>
                <a:ea typeface="Cambria" pitchFamily="34" charset="-122"/>
                <a:cs typeface="Cambria" pitchFamily="34" charset="-120"/>
              </a:rPr>
              <a:t>Thank you!</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Colaborativ Semi-Automat de Adnotare</dc:title>
  <dc:subject>PptxGenJS Presentation</dc:subject>
  <dc:creator>Grigoras Victor-Andrei</dc:creator>
  <cp:lastModifiedBy>Grigoras Victor-Andrei</cp:lastModifiedBy>
  <cp:revision>1</cp:revision>
  <dcterms:created xsi:type="dcterms:W3CDTF">2026-06-29T11:30:43Z</dcterms:created>
  <dcterms:modified xsi:type="dcterms:W3CDTF">2026-06-29T11:30:43Z</dcterms:modified>
</cp:coreProperties>
</file>